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96488bce69436e" /><Relationship Type="http://schemas.openxmlformats.org/officeDocument/2006/relationships/extended-properties" Target="/docProps/app.xml" Id="R434a1f5b60464849" /><Relationship Type="http://schemas.openxmlformats.org/officeDocument/2006/relationships/officeDocument" Target="/ppt/presentation.xml" Id="Re6607092ab1b48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0a229093084a9f"/>
  </p:sldMasterIdLst>
  <p:notesMasterIdLst>
    <p:notesMasterId xmlns:r="http://schemas.openxmlformats.org/officeDocument/2006/relationships" r:id="R7f99d2511e7746ea"/>
  </p:notesMasterIdLst>
  <p:sldIdLst>
    <p:sldId xmlns:r="http://schemas.openxmlformats.org/officeDocument/2006/relationships" id="256" r:id="Rb878bda59cb14114"/>
    <p:sldId xmlns:r="http://schemas.openxmlformats.org/officeDocument/2006/relationships" id="257" r:id="Rfe6231710d3e4d19"/>
    <p:sldId xmlns:r="http://schemas.openxmlformats.org/officeDocument/2006/relationships" id="258" r:id="R4a3c9d3c0dd54b57"/>
    <p:sldId xmlns:r="http://schemas.openxmlformats.org/officeDocument/2006/relationships" id="259" r:id="Rebf6d1d45486459f"/>
    <p:sldId xmlns:r="http://schemas.openxmlformats.org/officeDocument/2006/relationships" id="260" r:id="R7a4a48c1bf9748c6"/>
    <p:sldId xmlns:r="http://schemas.openxmlformats.org/officeDocument/2006/relationships" id="261" r:id="R4fc2ce1bf91e49f3"/>
    <p:sldId xmlns:r="http://schemas.openxmlformats.org/officeDocument/2006/relationships" id="262" r:id="Rf1872754e53a44fc"/>
    <p:sldId xmlns:r="http://schemas.openxmlformats.org/officeDocument/2006/relationships" id="263" r:id="R348e9b8d6981437b"/>
    <p:sldId xmlns:r="http://schemas.openxmlformats.org/officeDocument/2006/relationships" id="264" r:id="Rda87e49963554bc8"/>
    <p:sldId xmlns:r="http://schemas.openxmlformats.org/officeDocument/2006/relationships" id="265" r:id="R7879cd50d9f2472a"/>
    <p:sldId xmlns:r="http://schemas.openxmlformats.org/officeDocument/2006/relationships" id="266" r:id="R47083c581d754339"/>
    <p:sldId xmlns:r="http://schemas.openxmlformats.org/officeDocument/2006/relationships" id="267" r:id="R85d44c27aab64c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0ee47368254853" /><Relationship Type="http://schemas.openxmlformats.org/officeDocument/2006/relationships/slideMaster" Target="/ppt/slideMasters/slideMaster1.xml" Id="R0d0a229093084a9f" /><Relationship Type="http://schemas.openxmlformats.org/officeDocument/2006/relationships/notesMaster" Target="/ppt/notesMasters/notesMaster1.xml" Id="R7f99d2511e7746ea" /><Relationship Type="http://schemas.openxmlformats.org/officeDocument/2006/relationships/presProps" Target="/ppt/presProps.xml" Id="Rdbaca37657204f2c" /><Relationship Type="http://schemas.openxmlformats.org/officeDocument/2006/relationships/tableStyles" Target="/ppt/tableStyles.xml" Id="R308539103b23418c" /><Relationship Type="http://schemas.openxmlformats.org/officeDocument/2006/relationships/slide" Target="/ppt/slides/slide1.xml" Id="Rb878bda59cb14114" /><Relationship Type="http://schemas.openxmlformats.org/officeDocument/2006/relationships/slide" Target="/ppt/slides/slide2.xml" Id="Rfe6231710d3e4d19" /><Relationship Type="http://schemas.openxmlformats.org/officeDocument/2006/relationships/slide" Target="/ppt/slides/slide3.xml" Id="R4a3c9d3c0dd54b57" /><Relationship Type="http://schemas.openxmlformats.org/officeDocument/2006/relationships/slide" Target="/ppt/slides/slide4.xml" Id="Rebf6d1d45486459f" /><Relationship Type="http://schemas.openxmlformats.org/officeDocument/2006/relationships/slide" Target="/ppt/slides/slide5.xml" Id="R7a4a48c1bf9748c6" /><Relationship Type="http://schemas.openxmlformats.org/officeDocument/2006/relationships/slide" Target="/ppt/slides/slide6.xml" Id="R4fc2ce1bf91e49f3" /><Relationship Type="http://schemas.openxmlformats.org/officeDocument/2006/relationships/slide" Target="/ppt/slides/slide7.xml" Id="Rf1872754e53a44fc" /><Relationship Type="http://schemas.openxmlformats.org/officeDocument/2006/relationships/slide" Target="/ppt/slides/slide8.xml" Id="R348e9b8d6981437b" /><Relationship Type="http://schemas.openxmlformats.org/officeDocument/2006/relationships/slide" Target="/ppt/slides/slide9.xml" Id="Rda87e49963554bc8" /><Relationship Type="http://schemas.openxmlformats.org/officeDocument/2006/relationships/slide" Target="/ppt/slides/slide10.xml" Id="R7879cd50d9f2472a" /><Relationship Type="http://schemas.openxmlformats.org/officeDocument/2006/relationships/slide" Target="/ppt/slides/slide11.xml" Id="R47083c581d754339" /><Relationship Type="http://schemas.openxmlformats.org/officeDocument/2006/relationships/slide" Target="/ppt/slides/slide12.xml" Id="R85d44c27aab64c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acdf7bdc4a4f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6993b297f04d1a" /><Relationship Type="http://schemas.openxmlformats.org/officeDocument/2006/relationships/notesMaster" Target="/ppt/notesMasters/notesMaster1.xml" Id="R7f88f85d09a749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c5a72c2d684220" /><Relationship Type="http://schemas.openxmlformats.org/officeDocument/2006/relationships/notesMaster" Target="/ppt/notesMasters/notesMaster1.xml" Id="Re30dfe46ef9145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29c8a621364e78" /><Relationship Type="http://schemas.openxmlformats.org/officeDocument/2006/relationships/notesMaster" Target="/ppt/notesMasters/notesMaster1.xml" Id="Rbcb7c8b6a7954c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c2efb3535e4271" /><Relationship Type="http://schemas.openxmlformats.org/officeDocument/2006/relationships/notesMaster" Target="/ppt/notesMasters/notesMaster1.xml" Id="Rcde6c6edb61745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5bc3c1faaf445b" /><Relationship Type="http://schemas.openxmlformats.org/officeDocument/2006/relationships/notesMaster" Target="/ppt/notesMasters/notesMaster1.xml" Id="R8159c1b228d84d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433addb6234ce4" /><Relationship Type="http://schemas.openxmlformats.org/officeDocument/2006/relationships/notesMaster" Target="/ppt/notesMasters/notesMaster1.xml" Id="R24ed0e4684b349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a4380a7e014a87" /><Relationship Type="http://schemas.openxmlformats.org/officeDocument/2006/relationships/notesMaster" Target="/ppt/notesMasters/notesMaster1.xml" Id="Rd05027a4ce5143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fbb38adb0a4f7d" /><Relationship Type="http://schemas.openxmlformats.org/officeDocument/2006/relationships/notesMaster" Target="/ppt/notesMasters/notesMaster1.xml" Id="R6e1419d224914b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efaee2c8d1445c" /><Relationship Type="http://schemas.openxmlformats.org/officeDocument/2006/relationships/notesMaster" Target="/ppt/notesMasters/notesMaster1.xml" Id="R821a2b686c594b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a013e51f6e4011" /><Relationship Type="http://schemas.openxmlformats.org/officeDocument/2006/relationships/notesMaster" Target="/ppt/notesMasters/notesMaster1.xml" Id="Ra37f4f785eef46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c4c8d785094ab1" /><Relationship Type="http://schemas.openxmlformats.org/officeDocument/2006/relationships/notesMaster" Target="/ppt/notesMasters/notesMaster1.xml" Id="Rca030a3b38b34e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b745b4acae480b" /><Relationship Type="http://schemas.openxmlformats.org/officeDocument/2006/relationships/notesMaster" Target="/ppt/notesMasters/notesMaster1.xml" Id="R8e38c074b44a4c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796d8be8b4b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683417e5b84a09" /><Relationship Type="http://schemas.openxmlformats.org/officeDocument/2006/relationships/slideLayout" Target="/ppt/slideLayouts/slideLayout1.xml" Id="R88bb70c629a449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bb70c629a449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116ce7f184b0b" /><Relationship Type="http://schemas.openxmlformats.org/officeDocument/2006/relationships/notesSlide" Target="/ppt/notesSlides/notesSlide1.xml" Id="R5f9f9d33553d41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f83fabc9d40ec" /><Relationship Type="http://schemas.openxmlformats.org/officeDocument/2006/relationships/notesSlide" Target="/ppt/notesSlides/notesSlide2.xml" Id="R1949afebdd5245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1c6159ad34a70" /><Relationship Type="http://schemas.openxmlformats.org/officeDocument/2006/relationships/notesSlide" Target="/ppt/notesSlides/notesSlide3.xml" Id="R2553e9a4dfc044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6b0ed88fc425e" /><Relationship Type="http://schemas.openxmlformats.org/officeDocument/2006/relationships/notesSlide" Target="/ppt/notesSlides/notesSlide4.xml" Id="R6e7a59bcdcf840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60e466ec642ae" /><Relationship Type="http://schemas.openxmlformats.org/officeDocument/2006/relationships/notesSlide" Target="/ppt/notesSlides/notesSlide5.xml" Id="R3bc59403eb1c4f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d42e8f3a14a85" /><Relationship Type="http://schemas.openxmlformats.org/officeDocument/2006/relationships/notesSlide" Target="/ppt/notesSlides/notesSlide6.xml" Id="Rf3beb73f79ab49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cc56f29d84d4a" /><Relationship Type="http://schemas.openxmlformats.org/officeDocument/2006/relationships/notesSlide" Target="/ppt/notesSlides/notesSlide7.xml" Id="Rdda8ad77cf714b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f0fca2c714c90" /><Relationship Type="http://schemas.openxmlformats.org/officeDocument/2006/relationships/notesSlide" Target="/ppt/notesSlides/notesSlide8.xml" Id="R83d35a53d7714b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67a5b8d494f7b" /><Relationship Type="http://schemas.openxmlformats.org/officeDocument/2006/relationships/notesSlide" Target="/ppt/notesSlides/notesSlide9.xml" Id="R9f20dfd6d24844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4f0f691524b38" /><Relationship Type="http://schemas.openxmlformats.org/officeDocument/2006/relationships/notesSlide" Target="/ppt/notesSlides/notesSlide10.xml" Id="R31cedbf2679a4d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f0ace20504444" /><Relationship Type="http://schemas.openxmlformats.org/officeDocument/2006/relationships/notesSlide" Target="/ppt/notesSlides/notesSlide11.xml" Id="R93cfebfbb59441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bed6ff1314fae" /><Relationship Type="http://schemas.openxmlformats.org/officeDocument/2006/relationships/notesSlide" Target="/ppt/notesSlides/notesSlide12.xml" Id="Rbbbf2640a31842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51557-91CA-4237-AA31-C4CA048A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500E7-C562-4A86-AD67-423D2CA8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52550"/>
            <a:ext cx="981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Система оформления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служебных поездок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850AC-8045-415A-A096-8455EA25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CE8F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CE8F2"/>
                </a:solidFill>
                <a:latin typeface="Arial"/>
                <a:ea typeface="Arial"/>
                <a:cs typeface="Arial"/>
              </a:rPr>
              <a:t>Практические работы 1-4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0A3AC-F3DE-4E9A-A0AD-7537DA73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FD1E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D1E1"/>
                </a:solidFill>
                <a:latin typeface="Arial"/>
                <a:ea typeface="Arial"/>
                <a:cs typeface="Arial"/>
              </a:rPr>
              <a:t>PostgreSQL, Next.js, Express, React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9425A-9189-4FE5-AE91-8279E54D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435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8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8F2"/>
                </a:solidFill>
                <a:latin typeface="Arial"/>
                <a:ea typeface="Arial"/>
                <a:cs typeface="Arial"/>
              </a:rPr>
              <a:t>ФИО и группа добавляются перед сдачей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056C5-F53D-47E6-90B3-8BC60B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7435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89B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89B38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255027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86ED9-734E-4AD5-93B7-18D0AAC5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Паспорт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FBD58-1C48-4B46-8443-BCCE11BC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7E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5CBDA-53E2-4751-A3F8-B655CDB9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F3EB1-5D08-4BDC-A61A-063214AF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42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4242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6AC89-5605-4D0E-A6B9-C54B480A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Заявки согласуются в письмах и таблицах. Пользователи не видят единый статус, документы теряются, а историю решений трудно проверить.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46BD8-821E-4AEC-979A-90047CAF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D7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1067B-0344-48EC-9894-BE9C791B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295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НАЗНАЧЕНИЕ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0E1BD-D9F9-4EB9-A72B-37220B49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57150" bIns="38100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единая форма заявки и предварительных расходов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последовательное согласование руководителем и бухгалтером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рабочий список координатора поездок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история статусов с автором и временем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CB14D-3451-4784-A9FC-E48B2CD2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482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7A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67A58"/>
                </a:solidFill>
                <a:latin typeface="Arial"/>
                <a:ea typeface="Arial"/>
                <a:cs typeface="Arial"/>
              </a:rPr>
              <a:t>РЕЗУЛЬТАТ ПЕРВОЙ ВЕРСИИ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F3C85-D2A4-4363-8639-714FAA79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101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7A5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67A58"/>
                </a:solidFill>
                <a:latin typeface="Arial"/>
                <a:ea typeface="Arial"/>
                <a:cs typeface="Arial"/>
              </a:rPr>
              <a:t>Сотрудник отправляет заявку, согласующие принимают решение, а PostgreSQL сохраняет данные и ограничения процесса.</a:t>
            </a:r>
          </a:p>
        </p:txBody>
      </p:sp>
    </p:spTree>
    <p:extLst>
      <p:ext uri="{BB962C8B-B14F-4D97-AF65-F5344CB8AC3E}">
        <p14:creationId xmlns:p14="http://schemas.microsoft.com/office/powerpoint/2010/main" val="37503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2A6C7-57DE-4BFD-9DD2-54EB8664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Пользователи и команда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91299-BE8E-427E-87CC-E131115B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7E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E8E61-7E2D-44F3-986C-244A7E59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9291D-30F1-4E63-883D-BAAD9C67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ПОЛЬЗОВАТЕЛИ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F4087-65AD-4EAE-AA6B-B875BA88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Сотрудник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A5D17-AFE7-42A8-B8E8-639B5735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14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2"/>
                </a:solidFill>
                <a:latin typeface="Arial"/>
                <a:ea typeface="Arial"/>
                <a:cs typeface="Arial"/>
              </a:rPr>
              <a:t>создает и отслеживает заявку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3C64A-D07B-4E51-A8CF-B36D751C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Руководитель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FBCFC-00B7-4709-96C9-57BF3DD7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95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2"/>
                </a:solidFill>
                <a:latin typeface="Arial"/>
                <a:ea typeface="Arial"/>
                <a:cs typeface="Arial"/>
              </a:rPr>
              <a:t>проверяет служебную необходимость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0569E-F13F-403B-A7B5-BA4D1C55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Бухгалтер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C7628-64D2-4A39-983D-60D7A688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76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2"/>
                </a:solidFill>
                <a:latin typeface="Arial"/>
                <a:ea typeface="Arial"/>
                <a:cs typeface="Arial"/>
              </a:rPr>
              <a:t>проверяет бюджет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A743F-9CC5-4B34-A907-96F5A525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Координатор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F6167-E876-4D5C-92DB-EA0CB3B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57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9693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2"/>
                </a:solidFill>
                <a:latin typeface="Arial"/>
                <a:ea typeface="Arial"/>
                <a:cs typeface="Arial"/>
              </a:rPr>
              <a:t>организует утвержденную поездку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02AA7-6A07-46A8-AABF-6E5BABA0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Администратор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3255C-CD4F-477B-9939-102112EC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387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2"/>
                </a:solidFill>
                <a:latin typeface="Arial"/>
                <a:ea typeface="Arial"/>
                <a:cs typeface="Arial"/>
              </a:rPr>
              <a:t>управляет ролями и учетными записями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09B90-AABC-410A-A88A-EC6F7F74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28750"/>
            <a:ext cx="0" cy="452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9D7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B3D04-4BB3-48F6-AB85-46E0F037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ПРОЕКТНЫЕ РОЛИ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F9365-45A1-40E1-887C-EC940B5A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Владелец продукта</a:t>
            </a: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  требования и приемка</a:t>
            </a:r>
          </a:p>
          <a:p xmlns:a="http://schemas.openxmlformats.org/drawingml/2006/main">
            <a:pPr algn="l"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Backend разработчик</a:t>
            </a: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  Express API и бизнес-правила</a:t>
            </a:r>
          </a:p>
          <a:p xmlns:a="http://schemas.openxmlformats.org/drawingml/2006/main">
            <a:pPr algn="l"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Frontend разработчик</a:t>
            </a: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  React-интерфейс</a:t>
            </a:r>
          </a:p>
          <a:p xmlns:a="http://schemas.openxmlformats.org/drawingml/2006/main">
            <a:pPr algn="l"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Инженер данных</a:t>
            </a: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  PostgreSQL и миграции</a:t>
            </a:r>
          </a:p>
          <a:p xmlns:a="http://schemas.openxmlformats.org/drawingml/2006/main">
            <a:pPr algn="l"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Тестировщик и DevOps</a:t>
            </a: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  проверки и окружение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11F2F-50BD-400C-B0A8-DEA60530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6772"/>
                </a:solidFill>
                <a:latin typeface="Arial"/>
                <a:ea typeface="Arial"/>
                <a:cs typeface="Arial"/>
              </a:rPr>
              <a:t>Если участников меньше пяти, роли совмещаются. ФИО команда вносит перед сдачей.</a:t>
            </a:r>
          </a:p>
        </p:txBody>
      </p:sp>
    </p:spTree>
    <p:extLst>
      <p:ext uri="{BB962C8B-B14F-4D97-AF65-F5344CB8AC3E}">
        <p14:creationId xmlns:p14="http://schemas.microsoft.com/office/powerpoint/2010/main" val="12130623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3687E-6C48-4B11-91EB-D208C93F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Границы первой версии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9A382-CFBC-4463-8BE3-FB4A666F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7E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B751D-7EFC-464A-BAA6-FC7F23E3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1B419-B7EF-4ED4-BBFD-DAA81E74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6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67A58"/>
                </a:solidFill>
                <a:latin typeface="Arial"/>
                <a:ea typeface="Arial"/>
                <a:cs typeface="Arial"/>
              </a:rPr>
              <a:t>В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159DE-EDCB-42CC-B0BE-B3863A16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4762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57150" bIns="38100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вход и роли пользователей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черновик заявки с местом, датами и целью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участники и статьи расходов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отправка и два шага согласования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списки заявок и история статусов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базовые вложения до 10 МБ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FECFC-7D3D-49D7-BCAA-DB3C8BB6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352550"/>
            <a:ext cx="0" cy="447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7C8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CA1DD-341F-4F78-A128-5F23E059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525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После 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6CB31-D85F-410C-B103-847E3336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24050"/>
            <a:ext cx="4762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57150" bIns="38100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интеграция с кадровой системой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автоматический расчет суточных и курсов валют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гибкий конструктор маршрутов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электронная подпись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интеграции с билетами и гостиницами</a:t>
            </a:r>
          </a:p>
          <a:p xmlns:a="http://schemas.openxmlformats.org/drawingml/2006/main">
            <a:pPr marL="241300" indent="-114300">
              <a:spcAft>
                <a:spcPts val="9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обмен с бухгалтерской системой</a:t>
            </a:r>
          </a:p>
        </p:txBody>
      </p:sp>
    </p:spTree>
    <p:extLst>
      <p:ext uri="{BB962C8B-B14F-4D97-AF65-F5344CB8AC3E}">
        <p14:creationId xmlns:p14="http://schemas.microsoft.com/office/powerpoint/2010/main" val="388927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C06CD-E359-4BD8-81E6-8E93AA20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Требования к первой версии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F890C-0226-4D17-AE72-52202C73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7E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B3BA4-7C7C-4204-B0DC-179D72ED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5056E-CED2-45D7-BE77-B4E96411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33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DC0AB-4089-4D2A-B267-1820AB4F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B6772"/>
                </a:solidFill>
                <a:latin typeface="Arial"/>
                <a:ea typeface="Arial"/>
                <a:cs typeface="Arial"/>
              </a:rPr>
              <a:t>требований 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7CA26-2D85-4502-9872-443BABF6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219200"/>
            <a:ext cx="133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ED2FC-F781-4E29-8178-DCCAA7C1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383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B6772"/>
                </a:solidFill>
                <a:latin typeface="Arial"/>
                <a:ea typeface="Arial"/>
                <a:cs typeface="Arial"/>
              </a:rPr>
              <a:t>требований P1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257F3-1340-45B8-9FB3-4FB1EC0D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276350"/>
            <a:ext cx="0" cy="457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9D7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F3B70-F915-4923-8B71-1D925C16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2573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КЛЮЧЕВЫЕ ФУНКЦИОНАЛЬНЫЕ ТРЕБОВАНИЯ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6AE60-3D00-403D-9001-265FD230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57350"/>
            <a:ext cx="5905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57150" bIns="38100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8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FR-02  создание и редактирование черновика</a:t>
            </a:r>
          </a:p>
          <a:p xmlns:a="http://schemas.openxmlformats.org/drawingml/2006/main">
            <a:pPr marL="241300" indent="-114300">
              <a:spcAft>
                <a:spcPts val="8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FR-05  отправка только после серверной проверки</a:t>
            </a:r>
          </a:p>
          <a:p xmlns:a="http://schemas.openxmlformats.org/drawingml/2006/main">
            <a:pPr marL="241300" indent="-114300">
              <a:spcAft>
                <a:spcPts val="8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FR-06  решение руководителя с комментарием</a:t>
            </a:r>
          </a:p>
          <a:p xmlns:a="http://schemas.openxmlformats.org/drawingml/2006/main">
            <a:pPr marL="241300" indent="-114300">
              <a:spcAft>
                <a:spcPts val="8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FR-07  финансовое решение бухгалтера</a:t>
            </a:r>
          </a:p>
          <a:p xmlns:a="http://schemas.openxmlformats.org/drawingml/2006/main">
            <a:pPr marL="241300" indent="-114300">
              <a:spcAft>
                <a:spcPts val="8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FR-12  журнал каждой смены статуса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8B3A6-9ED6-4519-8131-DEBC7448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81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7A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67A58"/>
                </a:solidFill>
                <a:latin typeface="Arial"/>
                <a:ea typeface="Arial"/>
                <a:cs typeface="Arial"/>
              </a:rPr>
              <a:t>ИЗМЕРИМЫЕ NFR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3F120-8681-4D2D-BE41-FDC47622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62500"/>
            <a:ext cx="590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57150" bIns="38100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6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p95 ответа API не более 2 секунд при 50 пользователях</a:t>
            </a:r>
          </a:p>
          <a:p xmlns:a="http://schemas.openxmlformats.org/drawingml/2006/main">
            <a:pPr marL="241300" indent="-114300">
              <a:spcAft>
                <a:spcPts val="6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100 процентов изменяющих запросов проходят серверную валидацию</a:t>
            </a:r>
          </a:p>
          <a:p xmlns:a="http://schemas.openxmlformats.org/drawingml/2006/main">
            <a:pPr marL="241300" indent="-114300">
              <a:spcAft>
                <a:spcPts val="6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RPO 24 часа и RTO 4 часа для учебного стенда</a:t>
            </a:r>
          </a:p>
        </p:txBody>
      </p:sp>
    </p:spTree>
    <p:extLst>
      <p:ext uri="{BB962C8B-B14F-4D97-AF65-F5344CB8AC3E}">
        <p14:creationId xmlns:p14="http://schemas.microsoft.com/office/powerpoint/2010/main" val="514992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4E8B03-4728-4827-9331-F65DF704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Основные сценарии использования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694F2-F350-49C3-B79C-0E38CE5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7E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CBBD7-88E0-4DAC-83B7-92E523CC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FE2AF-0201-4A04-B026-944A6554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57300"/>
            <a:ext cx="6667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5240">
            <a:solidFill>
              <a:srgbClr val="2F6B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F6665-61EC-47FF-BC8F-4FBBEA17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352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Система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A326C-3E7C-4E32-A662-BBBE77D5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62150"/>
            <a:ext cx="2190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3335">
            <a:solidFill>
              <a:srgbClr val="2F6B9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Подать заявку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D8095-99E6-47E2-A75B-5DAB65FF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2190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3335">
            <a:solidFill>
              <a:srgbClr val="2F6B9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Принять решение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FB921-D96E-44DD-B2F7-ABEA7832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2190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3335">
            <a:solidFill>
              <a:srgbClr val="2F6B9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Проверить бюджет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4FDDD-994A-45A8-AABD-DEF74692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2190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3335">
            <a:solidFill>
              <a:srgbClr val="2F6B9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Организовать поездку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D93FC-4A6F-4383-9C2F-B4B30238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05350"/>
            <a:ext cx="2190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3335">
            <a:solidFill>
              <a:srgbClr val="2F6B9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Просмотреть статус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11F7F-F242-44D1-B584-5BB4A35B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3A5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Сотрудник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5BCA6-3806-488F-9B7E-4FDCFFCA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3A5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Бухгалтер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E154E-11D4-492D-B269-D61396D1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025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3A5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Руководитель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90CBA-F941-4106-9A23-2AD31E53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9090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3A5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Координатор</a:t>
            </a:r>
          </a:p>
        </p:txBody>
      </p:sp>
      <p:cxnSp>
        <p:nvCxnSpPr>
          <p:cNvPr id="34" name=""/>
          <p:cNvCxnSpPr>
            <a:stCxn xmlns:a="http://schemas.openxmlformats.org/drawingml/2006/main" id="11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209800" y="2343150"/>
            <a:ext cx="15049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94A7"/>
            </a:solidFill>
            <a:prstDash val="solid"/>
          </a:ln>
        </p:spPr>
      </p:cxnSp>
      <p:cxnSp>
        <p:nvCxnSpPr>
          <p:cNvPr id="35" name=""/>
          <p:cNvCxnSpPr>
            <a:stCxn xmlns:a="http://schemas.openxmlformats.org/drawingml/2006/main" id="13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8477250" y="2343150"/>
            <a:ext cx="14287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94A7"/>
            </a:solidFill>
            <a:prstDash val="solid"/>
          </a:ln>
        </p:spPr>
      </p:cxnSp>
      <p:cxnSp>
        <p:nvCxnSpPr>
          <p:cNvPr id="36" name=""/>
          <p:cNvCxnSpPr>
            <a:stCxn xmlns:a="http://schemas.openxmlformats.org/drawingml/2006/main" id="14" idx="1"/>
            <a:endCxn xmlns:a="http://schemas.openxmlformats.org/drawingml/2006/main" id="9" idx="6"/>
          </p:cNvCxnSpPr>
          <p:nvPr/>
        </p:nvCxnSpPr>
        <p:spPr>
          <a:xfrm xmlns:a="http://schemas.openxmlformats.org/drawingml/2006/main" flipH="1">
            <a:off x="8477250" y="37338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94A7"/>
            </a:solidFill>
            <a:prstDash val="solid"/>
          </a:ln>
        </p:spPr>
      </p:cxnSp>
      <p:cxnSp>
        <p:nvCxnSpPr>
          <p:cNvPr id="37" name=""/>
          <p:cNvCxnSpPr>
            <a:stCxn xmlns:a="http://schemas.openxmlformats.org/drawingml/2006/main" id="12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2209800" y="3733800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94A7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37944-B185-4F3F-9E26-0D1D5F58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562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578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2"/>
                </a:solidFill>
                <a:latin typeface="Arial"/>
                <a:ea typeface="Arial"/>
                <a:cs typeface="Arial"/>
              </a:rPr>
              <a:t>Статус и историю видят автор, участники и назначенные согласующие</a:t>
            </a:r>
          </a:p>
        </p:txBody>
      </p:sp>
    </p:spTree>
    <p:extLst>
      <p:ext uri="{BB962C8B-B14F-4D97-AF65-F5344CB8AC3E}">
        <p14:creationId xmlns:p14="http://schemas.microsoft.com/office/powerpoint/2010/main" val="221395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90FF9-7B1A-4141-891F-C86A68DF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Архитектура и стек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3E879-E2EE-4432-911B-64E0CC01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7E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D22A8-FEA6-4A21-B287-0DA7E88B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933D3-E840-4BBF-A5A5-5B552B13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163A5F"/>
            </a:solidFill>
            <a:prstDash val="solid"/>
          </a:ln>
        </p:spPr>
        <p:txBody>
          <a:bodyPr xmlns:a="http://schemas.openxmlformats.org/drawingml/2006/main" lIns="95250" tIns="114300" rIns="952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Браузер</a:t>
            </a:r>
          </a:p>
          <a:p xmlns:a="http://schemas.openxmlformats.org/drawingml/2006/main">
            <a:pPr algn="ctr"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React UI
формы и списки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3A290-AEA6-4C06-9C3F-72657A9C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19300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FEAF3"/>
          </a:solidFill>
          <a:ln xmlns:a="http://schemas.openxmlformats.org/drawingml/2006/main" w="14288">
            <a:solidFill>
              <a:srgbClr val="163A5F"/>
            </a:solidFill>
            <a:prstDash val="solid"/>
          </a:ln>
        </p:spPr>
        <p:txBody>
          <a:bodyPr xmlns:a="http://schemas.openxmlformats.org/drawingml/2006/main" lIns="95250" tIns="114300" rIns="952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Next.js</a:t>
            </a:r>
          </a:p>
          <a:p xmlns:a="http://schemas.openxmlformats.org/drawingml/2006/main">
            <a:pPr algn="ctr"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маршрутизация
и доставка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B9546-0063-4780-9A6D-B98EA81F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19300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2E2EE"/>
          </a:solidFill>
          <a:ln xmlns:a="http://schemas.openxmlformats.org/drawingml/2006/main" w="14288">
            <a:solidFill>
              <a:srgbClr val="163A5F"/>
            </a:solidFill>
            <a:prstDash val="solid"/>
          </a:ln>
        </p:spPr>
        <p:txBody>
          <a:bodyPr xmlns:a="http://schemas.openxmlformats.org/drawingml/2006/main" lIns="95250" tIns="114300" rIns="952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Express</a:t>
            </a:r>
          </a:p>
          <a:p xmlns:a="http://schemas.openxmlformats.org/drawingml/2006/main">
            <a:pPr algn="ctr"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REST API
и бизнес-правила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AD37E-361F-4C7D-AED7-4BF4026A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19300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5D9E8"/>
          </a:solidFill>
          <a:ln xmlns:a="http://schemas.openxmlformats.org/drawingml/2006/main" w="14288">
            <a:solidFill>
              <a:srgbClr val="163A5F"/>
            </a:solidFill>
            <a:prstDash val="solid"/>
          </a:ln>
        </p:spPr>
        <p:txBody>
          <a:bodyPr xmlns:a="http://schemas.openxmlformats.org/drawingml/2006/main" lIns="95250" tIns="114300" rIns="952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транзакции
и ограничения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38450" y="306705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F6B9A"/>
            </a:solidFill>
            <a:prstDash val="solid"/>
            <a:headEnd type="triangle" w="sm" len="sm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67375" y="306705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F6B9A"/>
            </a:solidFill>
            <a:prstDash val="solid"/>
            <a:head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496300" y="306705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F6B9A"/>
            </a:solidFill>
            <a:prstDash val="solid"/>
            <a:head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91806-12B2-4E05-AEFC-02F98ED2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291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Один репозиторий и один серверный контур Node.js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0B891-A41F-4D52-8984-D46D74B5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816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772"/>
                </a:solidFill>
                <a:latin typeface="Arial"/>
                <a:ea typeface="Arial"/>
                <a:cs typeface="Arial"/>
              </a:rPr>
              <a:t>Модульный монолит сокращает сложность развертывания, сохраняя разделение UI, API, домена и доступа к данным.</a:t>
            </a:r>
          </a:p>
        </p:txBody>
      </p:sp>
    </p:spTree>
    <p:extLst>
      <p:ext uri="{BB962C8B-B14F-4D97-AF65-F5344CB8AC3E}">
        <p14:creationId xmlns:p14="http://schemas.microsoft.com/office/powerpoint/2010/main" val="2040220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6A297-059D-4CA9-A1AF-1A2BEA15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Логическая модель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932C8-6E23-495E-84DA-B9F8D355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7E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B3298-2396-43F8-A91F-11D8CA53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B5F0E-5B75-4907-9BD7-A650172A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2000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383">
            <a:solidFill>
              <a:srgbClr val="2F6B9A"/>
            </a:solidFill>
            <a:prstDash val="solid"/>
          </a:ln>
        </p:spPr>
        <p:txBody>
          <a:bodyPr xmlns:a="http://schemas.openxmlformats.org/drawingml/2006/main" lIns="1143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users</a:t>
            </a:r>
          </a:p>
          <a:p xmlns:a="http://schemas.openxmlformats.org/drawingml/2006/main">
            <a:pPr algn="l">
              <a:defRPr sz="123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7212B"/>
                </a:solidFill>
                <a:latin typeface="Arial"/>
                <a:ea typeface="Arial"/>
                <a:cs typeface="Arial"/>
              </a:rPr>
              <a:t>PK id
email UQ
full_name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1D2C8-76ED-4456-958E-E971D920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383">
            <a:solidFill>
              <a:srgbClr val="2F6B9A"/>
            </a:solidFill>
            <a:prstDash val="solid"/>
          </a:ln>
        </p:spPr>
        <p:txBody>
          <a:bodyPr xmlns:a="http://schemas.openxmlformats.org/drawingml/2006/main" lIns="1143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roles</a:t>
            </a:r>
          </a:p>
          <a:p xmlns:a="http://schemas.openxmlformats.org/drawingml/2006/main">
            <a:pPr algn="l">
              <a:defRPr sz="123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7212B"/>
                </a:solidFill>
                <a:latin typeface="Arial"/>
                <a:ea typeface="Arial"/>
                <a:cs typeface="Arial"/>
              </a:rPr>
              <a:t>PK id
code UQ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E34AD-861C-43B5-90A5-975FEC60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383">
            <a:solidFill>
              <a:srgbClr val="2F6B9A"/>
            </a:solidFill>
            <a:prstDash val="solid"/>
          </a:ln>
        </p:spPr>
        <p:txBody>
          <a:bodyPr xmlns:a="http://schemas.openxmlformats.org/drawingml/2006/main" lIns="1143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departments</a:t>
            </a:r>
          </a:p>
          <a:p xmlns:a="http://schemas.openxmlformats.org/drawingml/2006/main">
            <a:pPr algn="l">
              <a:defRPr sz="123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7212B"/>
                </a:solidFill>
                <a:latin typeface="Arial"/>
                <a:ea typeface="Arial"/>
                <a:cs typeface="Arial"/>
              </a:rPr>
              <a:t>PK id
code UQ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1E3C6-AD97-41B6-AE11-E40F7F92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2667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383">
            <a:solidFill>
              <a:srgbClr val="2F6B9A"/>
            </a:solidFill>
            <a:prstDash val="solid"/>
          </a:ln>
        </p:spPr>
        <p:txBody>
          <a:bodyPr xmlns:a="http://schemas.openxmlformats.org/drawingml/2006/main" lIns="1143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trip_requests</a:t>
            </a:r>
          </a:p>
          <a:p xmlns:a="http://schemas.openxmlformats.org/drawingml/2006/main">
            <a:pPr algn="l">
              <a:defRPr sz="123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7212B"/>
                </a:solidFill>
                <a:latin typeface="Arial"/>
                <a:ea typeface="Arial"/>
                <a:cs typeface="Arial"/>
              </a:rPr>
              <a:t>PK id
FK created_by
FK department
dates,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A49A6-C83A-444E-AE6E-FEB5EDF0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1445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383">
            <a:solidFill>
              <a:srgbClr val="2F6B9A"/>
            </a:solidFill>
            <a:prstDash val="solid"/>
          </a:ln>
        </p:spPr>
        <p:txBody>
          <a:bodyPr xmlns:a="http://schemas.openxmlformats.org/drawingml/2006/main" lIns="1143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participants</a:t>
            </a:r>
          </a:p>
          <a:p xmlns:a="http://schemas.openxmlformats.org/drawingml/2006/main">
            <a:pPr algn="l">
              <a:defRPr sz="123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7212B"/>
                </a:solidFill>
                <a:latin typeface="Arial"/>
                <a:ea typeface="Arial"/>
                <a:cs typeface="Arial"/>
              </a:rPr>
              <a:t>PK FK request
PK FK user
is_primary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4562B-2EED-4DE0-9B54-A5103E99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2286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383">
            <a:solidFill>
              <a:srgbClr val="2F6B9A"/>
            </a:solidFill>
            <a:prstDash val="solid"/>
          </a:ln>
        </p:spPr>
        <p:txBody>
          <a:bodyPr xmlns:a="http://schemas.openxmlformats.org/drawingml/2006/main" lIns="1143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approval_steps</a:t>
            </a:r>
          </a:p>
          <a:p xmlns:a="http://schemas.openxmlformats.org/drawingml/2006/main">
            <a:pPr algn="l">
              <a:defRPr sz="123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7212B"/>
                </a:solidFill>
                <a:latin typeface="Arial"/>
                <a:ea typeface="Arial"/>
                <a:cs typeface="Arial"/>
              </a:rPr>
              <a:t>FK request
FK approver
step_no,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CCC0F-524D-47BE-84A2-BF7920B7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383">
            <a:solidFill>
              <a:srgbClr val="2F6B9A"/>
            </a:solidFill>
            <a:prstDash val="solid"/>
          </a:ln>
        </p:spPr>
        <p:txBody>
          <a:bodyPr xmlns:a="http://schemas.openxmlformats.org/drawingml/2006/main" lIns="1143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expenses</a:t>
            </a:r>
          </a:p>
          <a:p xmlns:a="http://schemas.openxmlformats.org/drawingml/2006/main">
            <a:pPr algn="l">
              <a:defRPr sz="123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7212B"/>
                </a:solidFill>
                <a:latin typeface="Arial"/>
                <a:ea typeface="Arial"/>
                <a:cs typeface="Arial"/>
              </a:rPr>
              <a:t>FK request
category
amount, currency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68A92-040C-4573-8E50-6C8C97BE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383">
            <a:solidFill>
              <a:srgbClr val="2F6B9A"/>
            </a:solidFill>
            <a:prstDash val="solid"/>
          </a:ln>
        </p:spPr>
        <p:txBody>
          <a:bodyPr xmlns:a="http://schemas.openxmlformats.org/drawingml/2006/main" lIns="1143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status_history</a:t>
            </a:r>
          </a:p>
          <a:p xmlns:a="http://schemas.openxmlformats.org/drawingml/2006/main">
            <a:pPr algn="l">
              <a:defRPr sz="123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7212B"/>
                </a:solidFill>
                <a:latin typeface="Arial"/>
                <a:ea typeface="Arial"/>
                <a:cs typeface="Arial"/>
              </a:rPr>
              <a:t>FK request
FK changed_by
from, to, time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33650" y="2200275"/>
            <a:ext cx="2228850" cy="1371600"/>
          </a:xfrm>
          <a:prstGeom xmlns:a="http://schemas.openxmlformats.org/drawingml/2006/main" prst="bentConnector3">
            <a:avLst>
              <a:gd name="adj1" fmla="val 10256"/>
            </a:avLst>
          </a:prstGeom>
          <a:ln xmlns:a="http://schemas.openxmlformats.org/drawingml/2006/main" w="19050">
            <a:solidFill>
              <a:srgbClr val="7E94A7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4238625" y="2419350"/>
            <a:ext cx="1857375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94A7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8AD9A-7369-466A-8EEA-40945777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781300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E94A7"/>
            </a:solidFill>
            <a:prstDash val="dash"/>
          </a:ln>
        </p:spPr>
      </p: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429500" y="1914525"/>
            <a:ext cx="476250" cy="1657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94A7"/>
            </a:solidFill>
            <a:prstDash val="solid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29500" y="3571875"/>
            <a:ext cx="123825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94A7"/>
            </a:solidFill>
            <a:prstDash val="solid"/>
          </a:ln>
        </p:spPr>
      </p:cxnSp>
      <p:cxnSp>
        <p:nvCxnSpPr>
          <p:cNvPr id="36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4362450"/>
            <a:ext cx="2428875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94A7"/>
            </a:solidFill>
            <a:prstDash val="solid"/>
          </a:ln>
        </p:spPr>
      </p:cxnSp>
      <p:cxnSp>
        <p:nvCxnSpPr>
          <p:cNvPr id="37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4333875" y="4362450"/>
            <a:ext cx="1762125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94A7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68534-508C-4FE5-8404-EDDD2A6F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2"/>
                </a:solidFill>
                <a:latin typeface="Arial"/>
                <a:ea typeface="Arial"/>
                <a:cs typeface="Arial"/>
              </a:rPr>
              <a:t>N:M связи раскрыты через user_roles и trip_participants</a:t>
            </a:r>
          </a:p>
        </p:txBody>
      </p:sp>
    </p:spTree>
    <p:extLst>
      <p:ext uri="{BB962C8B-B14F-4D97-AF65-F5344CB8AC3E}">
        <p14:creationId xmlns:p14="http://schemas.microsoft.com/office/powerpoint/2010/main" val="8968879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B520B-EDB8-4FEC-AF65-C34C7762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Физическая схема PostgreSQL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FC00B-2CD0-4716-B61F-D7F2F1A8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7E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4C026-9B22-4391-98D7-BF4F62B4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5620B-9493-495C-8255-5B4F38E3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7524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Целостность</a:t>
            </a: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  PK, FK, NOT NULL, UNIQUE и CHECK контролируют связи, даты, суммы и статусы.</a:t>
            </a:r>
          </a:p>
          <a:p xmlns:a="http://schemas.openxmlformats.org/drawingml/2006/main">
            <a:pPr algn="l"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Нормализация</a:t>
            </a: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  роли, участники, расходы и решения вынесены в отдельные таблицы. Итог расходов рассчитывает view.</a:t>
            </a:r>
          </a:p>
          <a:p xmlns:a="http://schemas.openxmlformats.org/drawingml/2006/main">
            <a:pPr algn="l"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Индексы</a:t>
            </a: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  поддерживают очередь согласующего, фильтры по статусу и датам, историю и поиск участника.</a:t>
            </a:r>
          </a:p>
          <a:p xmlns:a="http://schemas.openxmlformats.org/drawingml/2006/main">
            <a:pPr algn="l"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Доступ</a:t>
            </a: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  trip_app изменяет данные, trip_auditor только читает, а владелец миграций выполняет DDL.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AB46A-6F3B-438A-82A5-FA657CF3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2875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9D7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5AE9D-1F5D-4943-AE5F-FA650E58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764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4E005-74B4-45A4-A612-3BB73F5C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6772"/>
                </a:solidFill>
                <a:latin typeface="Arial"/>
                <a:ea typeface="Arial"/>
                <a:cs typeface="Arial"/>
              </a:rPr>
              <a:t>таблиц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71E75-A38B-4BB0-BBC9-7FF27196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337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CBB52-2DA8-48AC-8A10-E5D373CA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910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6772"/>
                </a:solidFill>
                <a:latin typeface="Arial"/>
                <a:ea typeface="Arial"/>
                <a:cs typeface="Arial"/>
              </a:rPr>
              <a:t>представление итогов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DB62A-5352-48C2-BD5E-E1C39F0B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530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367A5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367A5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01754-A39F-4882-9DF2-B5CDC328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676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772"/>
                </a:solidFill>
                <a:latin typeface="Arial"/>
                <a:ea typeface="Arial"/>
                <a:cs typeface="Arial"/>
              </a:rPr>
              <a:t>дублируемых итоговых сумм</a:t>
            </a:r>
          </a:p>
        </p:txBody>
      </p:sp>
    </p:spTree>
    <p:extLst>
      <p:ext uri="{BB962C8B-B14F-4D97-AF65-F5344CB8AC3E}">
        <p14:creationId xmlns:p14="http://schemas.microsoft.com/office/powerpoint/2010/main" val="18268959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A32C2-1658-473E-ADAB-86AB09F3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Проверка SQL-скриптов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2527E-9D09-4ADE-A42B-83B995D9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7E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A74D1-67F4-4212-A541-2FAE5BBC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34F9F-9113-4825-BA9A-3F5C9A48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Тестовая заявка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84D86-E489-4596-ACC5-F3D1BA8C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2"/>
                </a:solidFill>
                <a:latin typeface="Arial"/>
                <a:ea typeface="Arial"/>
                <a:cs typeface="Arial"/>
              </a:rPr>
              <a:t>Санкт-Петербург, 12-15 октября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22511-62C6-4F38-A38A-D4253AFB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18 000 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3951B-A650-46AA-9909-A570E477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2"/>
                </a:solidFill>
                <a:latin typeface="Arial"/>
                <a:ea typeface="Arial"/>
                <a:cs typeface="Arial"/>
              </a:rPr>
              <a:t>билеты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6194E-8874-4DED-8FAA-C0C87D1E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527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24 000 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93BA7-0B90-4A81-98A2-B0F7FF5A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24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2"/>
                </a:solidFill>
                <a:latin typeface="Arial"/>
                <a:ea typeface="Arial"/>
                <a:cs typeface="Arial"/>
              </a:rPr>
              <a:t>гостиница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775AA-6C78-4D2D-B852-073BC54C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527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4 000 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34A24-DEAA-4FCD-9C71-20959C1C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2"/>
                </a:solidFill>
                <a:latin typeface="Arial"/>
                <a:ea typeface="Arial"/>
                <a:cs typeface="Arial"/>
              </a:rPr>
              <a:t>суточные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58F86-8471-4932-A944-214D8336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28750"/>
            <a:ext cx="0" cy="447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9D7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D1071-D9F3-4FD1-82D6-94451C28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2875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367A5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67A58"/>
                </a:solidFill>
                <a:latin typeface="Arial"/>
                <a:ea typeface="Arial"/>
                <a:cs typeface="Arial"/>
              </a:rPr>
              <a:t>46 000 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5CCC7-2C4E-4F78-A258-5BA11D7A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7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2"/>
                </a:solidFill>
                <a:latin typeface="Arial"/>
                <a:ea typeface="Arial"/>
                <a:cs typeface="Arial"/>
              </a:rPr>
              <a:t>рассчитанный итог тестовых данных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3CEDB-D054-4C1E-A2D7-74192B84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7A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67A58"/>
                </a:solidFill>
                <a:latin typeface="Arial"/>
                <a:ea typeface="Arial"/>
                <a:cs typeface="Arial"/>
              </a:rPr>
              <a:t>ФАКТИЧЕСКИЙ ЗАПУСК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F09D1-104D-44EC-B503-33F401F3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57150" bIns="38100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700"/>
              </a:spcAft>
              <a:buChar char="•"/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001_schema.sql  PASS</a:t>
            </a:r>
          </a:p>
          <a:p xmlns:a="http://schemas.openxmlformats.org/drawingml/2006/main">
            <a:pPr marL="241300" indent="-114300">
              <a:spcAft>
                <a:spcPts val="700"/>
              </a:spcAft>
              <a:buChar char="•"/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002_seed.sql  PASS</a:t>
            </a:r>
          </a:p>
          <a:p xmlns:a="http://schemas.openxmlformats.org/drawingml/2006/main">
            <a:pPr marL="241300" indent="-114300">
              <a:spcAft>
                <a:spcPts val="700"/>
              </a:spcAft>
              <a:buChar char="•"/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003_verification.sql  PASS</a:t>
            </a:r>
          </a:p>
          <a:p xmlns:a="http://schemas.openxmlformats.org/drawingml/2006/main">
            <a:pPr marL="241300" indent="-114300">
              <a:spcAft>
                <a:spcPts val="700"/>
              </a:spcAft>
              <a:buChar char="•"/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004_access_control.sql 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B00CA-125A-43E2-8EB3-5306E7BA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149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918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42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84242"/>
                </a:solidFill>
                <a:latin typeface="Arial"/>
                <a:ea typeface="Arial"/>
                <a:cs typeface="Arial"/>
              </a:rPr>
              <a:t>Отрицательные даты, второй основной участник и отклонение без комментария база не принимает.</a:t>
            </a:r>
          </a:p>
        </p:txBody>
      </p:sp>
    </p:spTree>
    <p:extLst>
      <p:ext uri="{BB962C8B-B14F-4D97-AF65-F5344CB8AC3E}">
        <p14:creationId xmlns:p14="http://schemas.microsoft.com/office/powerpoint/2010/main" val="18166677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7AAB8-D934-48DD-BE42-28608DE7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План разработки и риски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55310-F233-454F-BAA7-9152ABCC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7E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F3C9E-B6BD-4F16-BFCB-FFB4AA43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35030-6D3F-495C-A63E-52A9E288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ЭТАПЫ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63140-49B7-40DA-9417-BE77A675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7DCD7-5680-472B-B210-12366DE0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Требования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37A0D-3EEA-419F-9813-CCC1F6A5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5791B-2198-4A0E-8C69-3621CA59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461E3-3FF3-47B4-83F6-A1AD5E09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2DF58-7E97-4035-929A-D1BD8F2B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Серверный каркас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5E1FF-B3BD-41AC-9F1A-0B97C4EF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D05F9-3971-4B2B-94CA-9B610A1A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Пользовательский срез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B905B-9C4E-4A81-8F5E-3F76B51D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123B7-F8B7-4D40-ACE4-C50BDA18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Согласование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ED7E1-EDA9-407F-A182-0D854C43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A79D3-6C2C-42B6-9C55-2EFEA2F8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Приемка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8A136-8623-4A27-BDF0-122578A7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428750"/>
            <a:ext cx="0" cy="447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9D7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F8C05-9982-4836-8B08-B070D0D2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57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42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4242"/>
                </a:solidFill>
                <a:latin typeface="Arial"/>
                <a:ea typeface="Arial"/>
                <a:cs typeface="Arial"/>
              </a:rPr>
              <a:t>ГЛАВНЫЕ РИСКИ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C1D0D-ABBE-4256-9CF7-BF51BFFC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14500"/>
            <a:ext cx="5143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Маршрут согласования</a:t>
            </a: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  фиксируем два шага в MVP</a:t>
            </a:r>
          </a:p>
          <a:p xmlns:a="http://schemas.openxmlformats.org/drawingml/2006/main">
            <a:pPr algn="l"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Расхождение UI и API</a:t>
            </a: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  согласуем контракт до формы</a:t>
            </a:r>
          </a:p>
          <a:p xmlns:a="http://schemas.openxmlformats.org/drawingml/2006/main">
            <a:pPr algn="l"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Потеря истории</a:t>
            </a: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  статус и журнал меняются в одной транзакции</a:t>
            </a:r>
          </a:p>
          <a:p xmlns:a="http://schemas.openxmlformats.org/drawingml/2006/main">
            <a:pPr algn="l"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Изменение схемы</a:t>
            </a: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  только новые миграции и проверка seed</a:t>
            </a:r>
          </a:p>
          <a:p xmlns:a="http://schemas.openxmlformats.org/drawingml/2006/main">
            <a:pPr algn="l"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Утечка секретов</a:t>
            </a: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  переменные среды и .env.example</a:t>
            </a:r>
          </a:p>
        </p:txBody>
      </p:sp>
    </p:spTree>
    <p:extLst>
      <p:ext uri="{BB962C8B-B14F-4D97-AF65-F5344CB8AC3E}">
        <p14:creationId xmlns:p14="http://schemas.microsoft.com/office/powerpoint/2010/main" val="1527078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6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26CB9-6C9E-4C66-B8BB-FFC4AD47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 работ 1-4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620E5-7713-4D3D-B260-C07A61B9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7B151-8CB7-4E03-A4BD-F68C78E3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621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Паспорт проекта, пользователи, MVP и правила команды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99339-AC8B-4A6C-B6DA-E106E51E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B7585-61E4-45C8-BDF8-7F186682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669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 FR, 12 NFR, пять сценариев, архитектура и план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1A34D-3090-427B-8C92-2B1E83F1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C37F2-18F4-49C3-B05E-1D147845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Логическая модель с 1:1, 1:N и N:M связями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23CB3-2400-4B9C-B11B-0F2BF05E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A3F3B-DD12-45D5-A7C2-C7B216C7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767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Физическая схема PostgreSQL, seed и проверенные запросы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04E8E-A358-41A3-882F-2A1B867B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E8AA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1E1C9-120B-4091-BB01-33CB7124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9B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89B38"/>
                </a:solidFill>
                <a:latin typeface="Arial"/>
                <a:ea typeface="Arial"/>
                <a:cs typeface="Arial"/>
              </a:rPr>
              <a:t>Следующий шаг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94F6D-50B6-40C4-976E-66D30E6B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578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Практика 5  серверный каркас, подключение PostgreSQL и первая операция FR-02</a:t>
            </a:r>
          </a:p>
        </p:txBody>
      </p:sp>
    </p:spTree>
    <p:extLst>
      <p:ext uri="{BB962C8B-B14F-4D97-AF65-F5344CB8AC3E}">
        <p14:creationId xmlns:p14="http://schemas.microsoft.com/office/powerpoint/2010/main" val="1257751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2026-09-23T13:04:06.8590000Z</dcterms:created>
  <dcterms:modified xsi:type="dcterms:W3CDTF">2026-09-23T13:04:06.8590000Z</dcterms:modified>
</coreProperties>
</file>